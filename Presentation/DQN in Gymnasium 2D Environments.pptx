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9" r:id="rId4"/>
    <p:sldId id="257" r:id="rId5"/>
    <p:sldId id="260" r:id="rId6"/>
    <p:sldId id="259" r:id="rId7"/>
    <p:sldId id="261" r:id="rId8"/>
    <p:sldId id="262" r:id="rId9"/>
    <p:sldId id="258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465" autoAdjust="0"/>
  </p:normalViewPr>
  <p:slideViewPr>
    <p:cSldViewPr snapToGrid="0">
      <p:cViewPr varScale="1">
        <p:scale>
          <a:sx n="80" d="100"/>
          <a:sy n="80" d="100"/>
        </p:scale>
        <p:origin x="7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C83848-F510-4A68-9193-CBCB01082FFE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F6C058-3044-4944-84AE-9E00DE934B1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980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q_target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(GAMMA *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target_net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next_states_batch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detach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(1)[0] * ~dones +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rewards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q_policy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policy_net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states_batch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gather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(1, </a:t>
            </a:r>
            <a:r>
              <a:rPr lang="es-E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actions_batch</a:t>
            </a: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6C058-3044-4944-84AE-9E00DE934B1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7391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Policy network predicts Q-values and chooses the best action in current state for all states in batch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net predicts Q-values , it gathers and extracts Q values of the actions chosen by policy net for all states in the batch.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network sets the error for the policy network to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backprop. 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q_values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[10.5, 8.2, 15.0, 9.1]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Target </a:t>
            </a:r>
            <a:r>
              <a:rPr lang="fr-F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q_values</a:t>
            </a:r>
            <a:r>
              <a:rPr lang="fr-F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[12.0, 8.3, 20.5, 9.0]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TD errors: [1.5, 0.1, 5.5, -0.1], high values means important transitions to learn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SOFT UPDATE TARGET NETWORK</a:t>
            </a:r>
            <a:endParaRPr lang="fr-F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F6C058-3044-4944-84AE-9E00DE934B1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2327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9262F-3157-C395-1B80-4B30DF836D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69FC14-3BF3-59AC-B7B1-1B6B33744A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472C01-119B-93B3-03D7-21A773DEA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0D9920-D236-39B0-3810-317483C5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49112-552E-D243-F044-764580EE0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1243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7D7F-D9A4-E6F1-9058-F1F4F8476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ECFC5B-613A-192D-1CC7-10139AEFDD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BF5F92-BAA7-88D8-F787-A0C2B2B6E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732AE4-FECA-32EE-A9F3-B4803343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D3E200-48C8-9D9D-17D7-831027CD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26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F8DD02-6783-BDC6-9A6F-563FFB0A1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9D7293-3972-B60B-F9CD-3EF283A42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94090A-44B2-E442-2720-B50CD4261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6AC23B-00E7-F94C-120B-44D8AC051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B436F0-8699-87D6-619A-E4169AFD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0457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FD4C24-6802-087A-50CB-DFB4F307D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0BEFB4-0BB3-22B8-3BEE-8212BEDFA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24208-C18C-607C-0D5B-DF46D52B0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6FD591-D255-6CD7-F8F2-D2AE2A8C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4765306-19D6-7BD8-FE70-348694721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F0DEAC-AB7C-984C-A325-BE0D1FA58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138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1E0D92-0DFF-0475-165D-E38819A56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E2DBED-C3CB-CA74-E149-956C91004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43C7E34-C56E-AD65-9F79-3C49CC453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4346C3B-CB65-CE1C-791D-40A18D684C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6A4D1CD-420D-65A5-5AA2-70A5FB6FF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0DC5A43-650E-FB80-8AEB-AC6AD2FCC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A0EE367-BFDE-2004-0EEB-233470B0D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E1A83EC-7674-9158-99FB-921D63E2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318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D28571-66D4-16C1-F0EB-B3E35E9E6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E1D9AFF-529D-70B0-3ECA-C6E48D77B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B656FBD-5AB1-A45F-DA97-AB8C6CAD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4B6C865-D724-DA6D-316E-666BBB72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784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230F04E-1F27-F670-AF4D-1D8B9FE6E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0B166F1-F2D1-3C59-E620-ABD63092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2B5656-99C3-6497-9C90-6050201E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04742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B9216-21BE-82B3-A04E-B03B610FF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47F434-A64E-69F3-5845-B44379F7F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42EF0D-9CF0-C226-3105-0DB2A54B6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BD1751-D1D1-B773-4685-6C61E329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357207C-8C79-AFDE-F0A6-E2249A557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CE5C054-4D67-7985-2B05-DB605062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64979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FF1289-D5E5-061C-5165-F3F0B0BAA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A60456-95BD-492F-784C-CA41B41B3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180E76-356A-7C3B-2AB2-5C222C82F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10ADA7-2B6F-C4D5-7E66-28A34443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84707F9-C4D1-1351-A9EB-F293E197B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B483711-34D2-9854-23B6-91CD6BCA3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7943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42E4B-ADAF-2D05-B7AC-507FC38AB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2619C38-8903-E83E-EBC8-649BAD7767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3663C5-1717-7247-EF33-67D04F1C0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E9BC48-79AF-FEC3-2341-A194A3FB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E8CE6E-C119-07DD-3C7C-6CC22AFEC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850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701453-2E15-0C0A-A7BA-C968E58AD8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7174EA0-8A79-D547-B899-B3B2D8E1F6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4B2CD6-C1A5-8BF8-44F7-D01F33C0D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C78946-0316-06E0-A41B-D792F864C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E22406-A846-A5D4-F9F7-063EA9956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74436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39DD75F-6DEF-0D87-2CF7-0B41B95C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79E755-A40F-A9E1-A975-D2A770D1DF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672DEC-41B2-0096-A09B-ABD141BCC8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03BB7E-858A-4B4A-B06C-699BC07A6351}" type="datetimeFigureOut">
              <a:rPr lang="es-ES" smtClean="0"/>
              <a:t>19/12/2025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AFCA35-58B1-87ED-06B4-B576B2D95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D6F58A-5545-BB18-8872-73EF5DF9F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64890-1B3F-4DB9-859A-0E81EEEE2A6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517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CD28AC-B5D6-D1EA-2202-CAD8ECC12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4891"/>
            <a:ext cx="9144000" cy="1865721"/>
          </a:xfrm>
        </p:spPr>
        <p:txBody>
          <a:bodyPr/>
          <a:lstStyle/>
          <a:p>
            <a:r>
              <a:rPr lang="es-ES" dirty="0"/>
              <a:t>(D)DQN in </a:t>
            </a:r>
            <a:r>
              <a:rPr lang="es-ES" dirty="0" err="1"/>
              <a:t>Gymnasium</a:t>
            </a:r>
            <a:r>
              <a:rPr lang="es-ES" dirty="0"/>
              <a:t> 2D </a:t>
            </a:r>
            <a:r>
              <a:rPr lang="es-ES" dirty="0" err="1"/>
              <a:t>Environments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5851CE-710C-36BE-799F-F23E3D8DF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4642" y="2100612"/>
            <a:ext cx="2502716" cy="911239"/>
          </a:xfrm>
        </p:spPr>
        <p:txBody>
          <a:bodyPr/>
          <a:lstStyle/>
          <a:p>
            <a:r>
              <a:rPr lang="es-ES" dirty="0"/>
              <a:t>Lunar Lander</a:t>
            </a:r>
          </a:p>
          <a:p>
            <a:r>
              <a:rPr lang="es-ES" dirty="0"/>
              <a:t>Car Racing</a:t>
            </a:r>
          </a:p>
        </p:txBody>
      </p:sp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B94A057D-1136-540A-E4A8-97F1FC62E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" y="3011851"/>
            <a:ext cx="4326623" cy="2884415"/>
          </a:xfrm>
          <a:prstGeom prst="rect">
            <a:avLst/>
          </a:prstGeom>
        </p:spPr>
      </p:pic>
      <p:pic>
        <p:nvPicPr>
          <p:cNvPr id="7" name="Imagen 6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D49F1C7C-2E48-DD60-5179-6528EB954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953" y="3011850"/>
            <a:ext cx="4326624" cy="288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179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8A4D62-90D5-E3D6-9B77-6EC235640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76488"/>
          </a:xfrm>
        </p:spPr>
        <p:txBody>
          <a:bodyPr/>
          <a:lstStyle/>
          <a:p>
            <a:r>
              <a:rPr lang="es-ES"/>
              <a:t>DQN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BCBD16-4DF0-E9F3-0D08-79E8F335D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76488"/>
            <a:ext cx="12192000" cy="5881512"/>
          </a:xfrm>
        </p:spPr>
        <p:txBody>
          <a:bodyPr/>
          <a:lstStyle/>
          <a:p>
            <a:r>
              <a:rPr lang="en-US" b="1" dirty="0"/>
              <a:t>Policy Network</a:t>
            </a:r>
            <a:r>
              <a:rPr lang="en-US" dirty="0"/>
              <a:t>: Estimates Q-values for all actions given a state (substitutes k-table)</a:t>
            </a:r>
          </a:p>
          <a:p>
            <a:r>
              <a:rPr lang="en-US" b="1" dirty="0"/>
              <a:t>Experience Replay</a:t>
            </a:r>
            <a:r>
              <a:rPr lang="en-US" dirty="0"/>
              <a:t>: Stores past transitions to break correlation</a:t>
            </a:r>
          </a:p>
          <a:p>
            <a:r>
              <a:rPr lang="en-US" dirty="0"/>
              <a:t>Target Network: Stabilizes learning by using delayed updates</a:t>
            </a:r>
          </a:p>
          <a:p>
            <a:r>
              <a:rPr lang="en-US" dirty="0"/>
              <a:t>Loss Function: Smooth L1 between predicted and target Q-values</a:t>
            </a:r>
          </a:p>
          <a:p>
            <a:endParaRPr lang="en-US" dirty="0"/>
          </a:p>
          <a:p>
            <a:r>
              <a:rPr lang="en-US" dirty="0"/>
              <a:t>Overestimation of Q-values</a:t>
            </a:r>
          </a:p>
          <a:p>
            <a:r>
              <a:rPr lang="en-US" dirty="0"/>
              <a:t>Instability in training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6338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3B29A-3FB3-DC78-6730-8AB2B6568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D0CD31-68E2-64E3-6EDF-9442212A86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76488"/>
          </a:xfrm>
        </p:spPr>
        <p:txBody>
          <a:bodyPr/>
          <a:lstStyle/>
          <a:p>
            <a:r>
              <a:rPr lang="es-ES" dirty="0"/>
              <a:t>DDQN (PER)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C1C530A-DAE2-E055-CB65-067C052538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76488"/>
            <a:ext cx="12192000" cy="5881512"/>
          </a:xfrm>
        </p:spPr>
        <p:txBody>
          <a:bodyPr/>
          <a:lstStyle/>
          <a:p>
            <a:r>
              <a:rPr lang="en-US" dirty="0"/>
              <a:t>Separate action selection and evaluation</a:t>
            </a:r>
          </a:p>
          <a:p>
            <a:r>
              <a:rPr lang="en-US" dirty="0"/>
              <a:t>Policy network chooses best action</a:t>
            </a:r>
          </a:p>
          <a:p>
            <a:r>
              <a:rPr lang="en-US" dirty="0"/>
              <a:t>Target network evaluates that action → reduces overestimation bias</a:t>
            </a:r>
          </a:p>
          <a:p>
            <a:r>
              <a:rPr lang="en-US" dirty="0"/>
              <a:t>Improves stability and performance</a:t>
            </a:r>
          </a:p>
          <a:p>
            <a:endParaRPr lang="en-US" dirty="0"/>
          </a:p>
          <a:p>
            <a:r>
              <a:rPr lang="en-US" dirty="0"/>
              <a:t>PER:</a:t>
            </a:r>
          </a:p>
          <a:p>
            <a:r>
              <a:rPr lang="en-US" dirty="0"/>
              <a:t>Samples important transitions more often</a:t>
            </a:r>
          </a:p>
          <a:p>
            <a:r>
              <a:rPr lang="en-US" dirty="0"/>
              <a:t>Speeds up learning for rare but critical experiences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037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E0422D-7DF1-1664-39CA-332DE5905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Lunar Lander Introduction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6AE8F465-A988-0A0F-267F-CE29F3B59F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57373"/>
              </p:ext>
            </p:extLst>
          </p:nvPr>
        </p:nvGraphicFramePr>
        <p:xfrm>
          <a:off x="4654296" y="1064434"/>
          <a:ext cx="6894576" cy="4370945"/>
        </p:xfrm>
        <a:graphic>
          <a:graphicData uri="http://schemas.openxmlformats.org/drawingml/2006/table">
            <a:tbl>
              <a:tblPr>
                <a:solidFill>
                  <a:srgbClr val="F7F7F7"/>
                </a:solidFill>
              </a:tblPr>
              <a:tblGrid>
                <a:gridCol w="6894576">
                  <a:extLst>
                    <a:ext uri="{9D8B030D-6E8A-4147-A177-3AD203B41FA5}">
                      <a16:colId xmlns:a16="http://schemas.microsoft.com/office/drawing/2014/main" val="2778110298"/>
                    </a:ext>
                  </a:extLst>
                </a:gridCol>
              </a:tblGrid>
              <a:tr h="288627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🎯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Objective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Safely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between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flags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🏁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🏆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Rewards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accurate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✅ and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⚠️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Penalties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fuel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usage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⛽ and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crashes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💥</a:t>
                      </a:r>
                      <a:b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🎮 4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Actions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🙅 Do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nothing</a:t>
                      </a: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🔥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Fire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left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engine</a:t>
                      </a: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🔥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Fire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right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engine</a:t>
                      </a: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🚀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Fire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main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engine</a:t>
                      </a: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7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👀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Observation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Space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Position 📍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velocity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💨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angle 🔄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angular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velocity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🔁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leg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contact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status🦵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⏳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Episode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Finishes</a:t>
                      </a:r>
                      <a:r>
                        <a:rPr lang="es-ES" sz="17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When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lander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🚀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crashes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💥,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exits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screen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📤,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or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lands</a:t>
                      </a:r>
                      <a:r>
                        <a:rPr lang="es-ES" sz="17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🛬</a:t>
                      </a:r>
                    </a:p>
                  </a:txBody>
                  <a:tcPr marL="94907" marR="94907" marT="47453" marB="9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7550"/>
                  </a:ext>
                </a:extLst>
              </a:tr>
              <a:tr h="361236">
                <a:tc>
                  <a:txBody>
                    <a:bodyPr/>
                    <a:lstStyle/>
                    <a:p>
                      <a:endParaRPr lang="es-ES" sz="17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94907" marR="94907" marT="47453" marB="9490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4578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4090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3D712D-0B2C-5CBF-1499-01222B7D9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Hyperparameters (Training Conditions)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B4AFAA8-4CF4-0E48-3E95-E5670016C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997882"/>
              </p:ext>
            </p:extLst>
          </p:nvPr>
        </p:nvGraphicFramePr>
        <p:xfrm>
          <a:off x="4654296" y="864581"/>
          <a:ext cx="6906768" cy="466578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906768">
                  <a:extLst>
                    <a:ext uri="{9D8B030D-6E8A-4147-A177-3AD203B41FA5}">
                      <a16:colId xmlns:a16="http://schemas.microsoft.com/office/drawing/2014/main" val="2222495668"/>
                    </a:ext>
                  </a:extLst>
                </a:gridCol>
              </a:tblGrid>
              <a:tr h="364140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🤖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Algorithm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DQN and DDQN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wind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🧠 Neural Network: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8 → 128 → 128 → 4 (2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⚡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Learning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Rate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0.0001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🎯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Discount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Factor (Gamma):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0.99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📦 Replay Buffer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10000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📐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Batch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128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🔄 Target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Update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Soft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Updates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Polyak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Averaging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), TAU = 0.005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🎲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Exploration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Strategy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l-GR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ε-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greedy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l-GR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ε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decays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1.0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0.01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a 0.99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decay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factor per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episode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🛠️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Optimizer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AdamW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📉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Loss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Function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Smooth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L1 los</a:t>
                      </a:r>
                    </a:p>
                  </a:txBody>
                  <a:tcPr marL="278632" marR="144889" marT="144889" marB="1448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742390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endParaRPr lang="es-ES" sz="1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632" marR="144889" marT="144889" marB="1448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969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69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6239C7E-E317-E82B-E420-CA618E1D9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s-ES" sz="3600"/>
              <a:t>Experimentation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1917C7C3-C5FD-1FF0-9E17-C4671AB112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091141"/>
              </p:ext>
            </p:extLst>
          </p:nvPr>
        </p:nvGraphicFramePr>
        <p:xfrm>
          <a:off x="4686321" y="360445"/>
          <a:ext cx="7214616" cy="649755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7214616">
                  <a:extLst>
                    <a:ext uri="{9D8B030D-6E8A-4147-A177-3AD203B41FA5}">
                      <a16:colId xmlns:a16="http://schemas.microsoft.com/office/drawing/2014/main" val="2773077775"/>
                    </a:ext>
                  </a:extLst>
                </a:gridCol>
              </a:tblGrid>
              <a:tr h="299665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32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neurons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❌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Pretty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results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—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insufficient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neurons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task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64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neurons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1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😖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Really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crashes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all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time.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2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(general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hyperparameters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⚠️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only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a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few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times)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2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modified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hyperparameters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✅ Quite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good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! Completes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environments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in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episodes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avoids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catastrophic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results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4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❌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Really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128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neurons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Only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condition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in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shaping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changed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between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them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!):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1: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Really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2: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Quite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good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always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finishes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between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flags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sometimes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crashes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due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high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speed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legs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open).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3 (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best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Almost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perfect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perfection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does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not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exist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!)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Hyperparameters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changed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Stupid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knows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where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has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instead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keeps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thrusting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84499"/>
                  </a:ext>
                </a:extLst>
              </a:tr>
              <a:tr h="214722">
                <a:tc>
                  <a:txBody>
                    <a:bodyPr/>
                    <a:lstStyle/>
                    <a:p>
                      <a:endParaRPr lang="es-E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8867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D47C0-A047-A606-00CE-6FAD4A9F5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4AAFA1-38D7-A56A-1EFC-68BE0D0A58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1" y="639193"/>
            <a:ext cx="3891173" cy="3573516"/>
          </a:xfrm>
        </p:spPr>
        <p:txBody>
          <a:bodyPr>
            <a:normAutofit/>
          </a:bodyPr>
          <a:lstStyle/>
          <a:p>
            <a:pPr algn="l"/>
            <a:r>
              <a:rPr lang="es-ES" sz="3600" dirty="0" err="1"/>
              <a:t>Experimentation</a:t>
            </a:r>
            <a:r>
              <a:rPr lang="es-ES" sz="3600" dirty="0"/>
              <a:t> (2)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3398AA4-BB9A-61FC-D1A9-4BC9AE8F6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244512"/>
              </p:ext>
            </p:extLst>
          </p:nvPr>
        </p:nvGraphicFramePr>
        <p:xfrm>
          <a:off x="4703099" y="84972"/>
          <a:ext cx="7214616" cy="668805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7214616">
                  <a:extLst>
                    <a:ext uri="{9D8B030D-6E8A-4147-A177-3AD203B41FA5}">
                      <a16:colId xmlns:a16="http://schemas.microsoft.com/office/drawing/2014/main" val="2773077775"/>
                    </a:ext>
                  </a:extLst>
                </a:gridCol>
              </a:tblGrid>
              <a:tr h="299665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256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neurons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1: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Results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similar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128_best,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higher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training time.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Hyperparameters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changed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Stupid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knows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where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has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instead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keeps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thrusting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same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as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128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Wind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1 (320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😖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Really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unlike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others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never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crushes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exits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screen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because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wind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2 (345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shaping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center):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⚠️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goes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center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a short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period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time,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instead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keeps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thrusting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and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blown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away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3 (600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3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✅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one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I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was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able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get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manages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well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sometimes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(240),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times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drifts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away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like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1.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4/5 (600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3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hidden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layers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Normal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have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learnt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center,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times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crash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due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high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speed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in axis y (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legs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open).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more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episodes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would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have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great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Fine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tuned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128_best: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Normal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between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3 and 4/5,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tries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stick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center,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landing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sometimes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and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achieving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environment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sporadically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Heavy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trained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bigger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networks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even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dropout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and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hyperparameters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changed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overall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buffer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(512),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pretty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models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,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surely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due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overfitting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84499"/>
                  </a:ext>
                </a:extLst>
              </a:tr>
              <a:tr h="214722">
                <a:tc>
                  <a:txBody>
                    <a:bodyPr/>
                    <a:lstStyle/>
                    <a:p>
                      <a:endParaRPr lang="es-E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1600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F9B18-88B7-CD91-948D-62231FA9B0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84877"/>
          </a:xfrm>
        </p:spPr>
        <p:txBody>
          <a:bodyPr/>
          <a:lstStyle/>
          <a:p>
            <a:r>
              <a:rPr lang="es-ES"/>
              <a:t>Conclusions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142A3B-32D9-649D-E16A-8C66C9BBCF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84876"/>
            <a:ext cx="12192000" cy="5873123"/>
          </a:xfrm>
        </p:spPr>
        <p:txBody>
          <a:bodyPr/>
          <a:lstStyle/>
          <a:p>
            <a:r>
              <a:rPr lang="es-ES" dirty="0"/>
              <a:t>Neural Network </a:t>
            </a:r>
            <a:r>
              <a:rPr lang="es-ES" dirty="0" err="1"/>
              <a:t>size</a:t>
            </a:r>
            <a:r>
              <a:rPr lang="es-ES" dirty="0"/>
              <a:t> (</a:t>
            </a:r>
            <a:r>
              <a:rPr lang="es-ES" dirty="0" err="1"/>
              <a:t>Overfitting</a:t>
            </a:r>
            <a:r>
              <a:rPr lang="es-ES" dirty="0"/>
              <a:t>)</a:t>
            </a:r>
          </a:p>
          <a:p>
            <a:r>
              <a:rPr lang="es-ES" dirty="0" err="1"/>
              <a:t>Reward</a:t>
            </a:r>
            <a:r>
              <a:rPr lang="es-ES" dirty="0"/>
              <a:t> </a:t>
            </a:r>
            <a:r>
              <a:rPr lang="es-ES" dirty="0" err="1"/>
              <a:t>shaping</a:t>
            </a:r>
            <a:endParaRPr lang="es-ES" dirty="0"/>
          </a:p>
          <a:p>
            <a:r>
              <a:rPr lang="es-ES" dirty="0" err="1"/>
              <a:t>Hyperparemeters</a:t>
            </a:r>
            <a:r>
              <a:rPr lang="es-ES" dirty="0"/>
              <a:t> </a:t>
            </a:r>
            <a:r>
              <a:rPr lang="es-ES" dirty="0" err="1"/>
              <a:t>small</a:t>
            </a:r>
            <a:r>
              <a:rPr lang="es-ES" dirty="0"/>
              <a:t> </a:t>
            </a:r>
            <a:r>
              <a:rPr lang="es-ES" dirty="0" err="1"/>
              <a:t>variations</a:t>
            </a:r>
            <a:endParaRPr lang="es-ES" dirty="0"/>
          </a:p>
          <a:p>
            <a:r>
              <a:rPr lang="es-ES" dirty="0" err="1"/>
              <a:t>Early</a:t>
            </a:r>
            <a:r>
              <a:rPr lang="es-ES" dirty="0"/>
              <a:t> </a:t>
            </a:r>
            <a:r>
              <a:rPr lang="es-ES" dirty="0" err="1"/>
              <a:t>stopping</a:t>
            </a:r>
            <a:endParaRPr lang="es-ES" dirty="0"/>
          </a:p>
          <a:p>
            <a:r>
              <a:rPr lang="es-ES" dirty="0"/>
              <a:t>Training </a:t>
            </a:r>
            <a:r>
              <a:rPr lang="es-ES" dirty="0" err="1"/>
              <a:t>strategy</a:t>
            </a:r>
            <a:r>
              <a:rPr lang="es-ES" dirty="0"/>
              <a:t> &gt; </a:t>
            </a:r>
            <a:r>
              <a:rPr lang="es-ES" dirty="0" err="1"/>
              <a:t>network</a:t>
            </a:r>
            <a:r>
              <a:rPr lang="es-ES" dirty="0"/>
              <a:t> </a:t>
            </a:r>
            <a:r>
              <a:rPr lang="es-ES" dirty="0" err="1"/>
              <a:t>size</a:t>
            </a:r>
            <a:r>
              <a:rPr lang="es-ES" dirty="0"/>
              <a:t>?</a:t>
            </a:r>
          </a:p>
          <a:p>
            <a:r>
              <a:rPr lang="es-ES" dirty="0" err="1"/>
              <a:t>Wind</a:t>
            </a:r>
            <a:r>
              <a:rPr lang="es-ES" dirty="0"/>
              <a:t> </a:t>
            </a:r>
            <a:r>
              <a:rPr lang="es-ES" dirty="0" err="1"/>
              <a:t>models</a:t>
            </a:r>
            <a:r>
              <a:rPr lang="es-ES" dirty="0"/>
              <a:t> </a:t>
            </a:r>
            <a:r>
              <a:rPr lang="es-ES" dirty="0" err="1"/>
              <a:t>harder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01565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921519-AEF1-471D-863D-54FB12A4F7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Car Racing Introduction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sX0" fmla="*/ 0 w 18288"/>
              <a:gd name="csY0" fmla="*/ 0 h 5590381"/>
              <a:gd name="csX1" fmla="*/ 18288 w 18288"/>
              <a:gd name="csY1" fmla="*/ 0 h 5590381"/>
              <a:gd name="csX2" fmla="*/ 18288 w 18288"/>
              <a:gd name="csY2" fmla="*/ 754701 h 5590381"/>
              <a:gd name="csX3" fmla="*/ 18288 w 18288"/>
              <a:gd name="csY3" fmla="*/ 1565307 h 5590381"/>
              <a:gd name="csX4" fmla="*/ 18288 w 18288"/>
              <a:gd name="csY4" fmla="*/ 2152297 h 5590381"/>
              <a:gd name="csX5" fmla="*/ 18288 w 18288"/>
              <a:gd name="csY5" fmla="*/ 2906998 h 5590381"/>
              <a:gd name="csX6" fmla="*/ 18288 w 18288"/>
              <a:gd name="csY6" fmla="*/ 3549892 h 5590381"/>
              <a:gd name="csX7" fmla="*/ 18288 w 18288"/>
              <a:gd name="csY7" fmla="*/ 4080978 h 5590381"/>
              <a:gd name="csX8" fmla="*/ 18288 w 18288"/>
              <a:gd name="csY8" fmla="*/ 4835680 h 5590381"/>
              <a:gd name="csX9" fmla="*/ 18288 w 18288"/>
              <a:gd name="csY9" fmla="*/ 5590381 h 5590381"/>
              <a:gd name="csX10" fmla="*/ 0 w 18288"/>
              <a:gd name="csY10" fmla="*/ 5590381 h 5590381"/>
              <a:gd name="csX11" fmla="*/ 0 w 18288"/>
              <a:gd name="csY11" fmla="*/ 4835680 h 5590381"/>
              <a:gd name="csX12" fmla="*/ 0 w 18288"/>
              <a:gd name="csY12" fmla="*/ 4304593 h 5590381"/>
              <a:gd name="csX13" fmla="*/ 0 w 18288"/>
              <a:gd name="csY13" fmla="*/ 3773507 h 5590381"/>
              <a:gd name="csX14" fmla="*/ 0 w 18288"/>
              <a:gd name="csY14" fmla="*/ 3186517 h 5590381"/>
              <a:gd name="csX15" fmla="*/ 0 w 18288"/>
              <a:gd name="csY15" fmla="*/ 2487720 h 5590381"/>
              <a:gd name="csX16" fmla="*/ 0 w 18288"/>
              <a:gd name="csY16" fmla="*/ 1956633 h 5590381"/>
              <a:gd name="csX17" fmla="*/ 0 w 18288"/>
              <a:gd name="csY17" fmla="*/ 1425547 h 5590381"/>
              <a:gd name="csX18" fmla="*/ 0 w 18288"/>
              <a:gd name="csY18" fmla="*/ 614942 h 5590381"/>
              <a:gd name="csX19" fmla="*/ 0 w 18288"/>
              <a:gd name="csY19" fmla="*/ 0 h 55903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FC908C-B93B-4CF0-A2AC-4405809D0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54296" y="4798577"/>
            <a:ext cx="6894576" cy="1428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/>
              <a:t>Objective: drive efficiently while staying on the track and managing speed through turns.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/>
              <a:t>Rewards: -0.1 per frame + 1000/N for each track tile visited, N number of tiles visited.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/>
              <a:t>5 actions: Do nothing, steer right/left, Accelerate (gas) and brake.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/>
              <a:t>Observation space: RGB image (96x96) of the current environment state.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000" dirty="0"/>
              <a:t>Episode finishes when all track tiles are visited (successful), car drifts too far away from the track or maximum episode length reached (250).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E4524CA0-9353-D83F-BA39-27B643B22B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0130"/>
              </p:ext>
            </p:extLst>
          </p:nvPr>
        </p:nvGraphicFramePr>
        <p:xfrm>
          <a:off x="4654296" y="670884"/>
          <a:ext cx="6894576" cy="3778263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6894576">
                  <a:extLst>
                    <a:ext uri="{9D8B030D-6E8A-4147-A177-3AD203B41FA5}">
                      <a16:colId xmlns:a16="http://schemas.microsoft.com/office/drawing/2014/main" val="1699081087"/>
                    </a:ext>
                  </a:extLst>
                </a:gridCol>
              </a:tblGrid>
              <a:tr h="2910521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🎯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Objective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Drive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efficiently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while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staying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on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track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🏎️ and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managing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speed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through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turns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🔄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b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🏆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Rewards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➖ -0.1 per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frame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⏱️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➕ +1000/N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for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each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track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tile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visited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🟩 (N =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number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tiles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visited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🎮 5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Actions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🙅 Do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nothing</a:t>
                      </a: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↔️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Steer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left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⬅️ /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right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➡️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⛽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Accelerate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(gas)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🛑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Brake</a:t>
                      </a: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👀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Observation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Space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RGB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image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🖼️ (96×96)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of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current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environment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state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🌍</a:t>
                      </a:r>
                      <a:b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4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⏳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Episode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Ends</a:t>
                      </a:r>
                      <a:r>
                        <a:rPr lang="es-ES" sz="14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When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✅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all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track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tiles are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visited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success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), 🚗 car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drifts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too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far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away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the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track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🛤️,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or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⏰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maximum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episode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length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4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reached</a:t>
                      </a:r>
                      <a:r>
                        <a:rPr lang="es-ES" sz="14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(250)</a:t>
                      </a:r>
                    </a:p>
                  </a:txBody>
                  <a:tcPr marL="102713" marR="102713" marT="108988" marB="5135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54655"/>
                  </a:ext>
                </a:extLst>
              </a:tr>
              <a:tr h="319476">
                <a:tc>
                  <a:txBody>
                    <a:bodyPr/>
                    <a:lstStyle/>
                    <a:p>
                      <a:endParaRPr lang="es-ES" sz="14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02713" marR="102713" marT="108988" marB="5135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025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91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164A9-576C-7B39-6DA3-FC1190706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F950C-379E-3AA8-B5B9-DEE8104CB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6" y="640823"/>
            <a:ext cx="3419856" cy="5583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Hyperparameters (Training Conditions)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8EE3E737-2402-F7C9-943E-A85F986D49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190035"/>
              </p:ext>
            </p:extLst>
          </p:nvPr>
        </p:nvGraphicFramePr>
        <p:xfrm>
          <a:off x="4654296" y="864581"/>
          <a:ext cx="6906768" cy="543540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906768">
                  <a:extLst>
                    <a:ext uri="{9D8B030D-6E8A-4147-A177-3AD203B41FA5}">
                      <a16:colId xmlns:a16="http://schemas.microsoft.com/office/drawing/2014/main" val="2222495668"/>
                    </a:ext>
                  </a:extLst>
                </a:gridCol>
              </a:tblGrid>
              <a:tr h="3641407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🤖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Algorithm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DDQN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PER</a:t>
                      </a:r>
                    </a:p>
                    <a:p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🧠 Neural Network: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Input: (4, 84, 84) -&gt; Conv1: (32, 20, 20) -&gt; Conv2: (64, 9, 9) -&gt; Conv3: (64, 7, 7) -&gt; 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Flatten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(3136, 512) -&gt; Output: (512, </a:t>
                      </a:r>
                      <a:r>
                        <a:rPr lang="es-E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num_actions</a:t>
                      </a:r>
                      <a:r>
                        <a:rPr lang="es-E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=5)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⚡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Learning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Rate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0.0001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🎯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Discount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Factor (Gamma):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0.99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📦 Replay Buffer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100000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📐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Batch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Size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128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🔄 Target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Update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Soft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Updates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Polyak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Averaging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), TAU = 0.005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🎲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Exploration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Strategy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l-GR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ε-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greedy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l-GR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ε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decays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1.0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to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0.01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with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a 0.99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decay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factor per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episode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)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🛠️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Optimizer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AdamW</a:t>
                      </a:r>
                      <a:b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</a:br>
                      <a:endParaRPr lang="es-ES" sz="1700" b="0" i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📉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Loss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1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Function</a:t>
                      </a:r>
                      <a:r>
                        <a:rPr lang="es-ES" sz="1700" b="1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700" b="0" i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Smooth</a:t>
                      </a:r>
                      <a:r>
                        <a:rPr lang="es-ES" sz="1700" b="0" i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Segoe UI" panose="020B0502040204020203" pitchFamily="34" charset="0"/>
                        </a:rPr>
                        <a:t> L1 los</a:t>
                      </a:r>
                    </a:p>
                  </a:txBody>
                  <a:tcPr marL="278632" marR="144889" marT="144889" marB="1448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8742390"/>
                  </a:ext>
                </a:extLst>
              </a:tr>
              <a:tr h="485463">
                <a:tc>
                  <a:txBody>
                    <a:bodyPr/>
                    <a:lstStyle/>
                    <a:p>
                      <a:endParaRPr lang="es-ES" sz="170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278632" marR="144889" marT="144889" marB="14488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969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58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063A4-C606-3F49-5C85-5725762D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49507-FBA4-EEAC-1559-BAC0C787D8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7212" y="3037144"/>
            <a:ext cx="3571810" cy="783709"/>
          </a:xfrm>
        </p:spPr>
        <p:txBody>
          <a:bodyPr>
            <a:normAutofit/>
          </a:bodyPr>
          <a:lstStyle/>
          <a:p>
            <a:pPr algn="l"/>
            <a:r>
              <a:rPr lang="es-ES" sz="3600" dirty="0" err="1"/>
              <a:t>Experimentation</a:t>
            </a:r>
            <a:endParaRPr lang="es-ES" sz="3600" dirty="0"/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0188A8F-14C3-B5F0-CC1C-A316A61C5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895720"/>
              </p:ext>
            </p:extLst>
          </p:nvPr>
        </p:nvGraphicFramePr>
        <p:xfrm>
          <a:off x="4518541" y="1418472"/>
          <a:ext cx="7214616" cy="421155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7214616">
                  <a:extLst>
                    <a:ext uri="{9D8B030D-6E8A-4147-A177-3AD203B41FA5}">
                      <a16:colId xmlns:a16="http://schemas.microsoft.com/office/drawing/2014/main" val="2773077775"/>
                    </a:ext>
                  </a:extLst>
                </a:gridCol>
              </a:tblGrid>
              <a:tr h="299665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2368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Best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model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!)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✅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consistent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870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42/50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Strong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policy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learning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928.5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4600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2nd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consistent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842.03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35/50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929.5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15695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n-U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BATCH_SIZE=1024, TAU=0.01, EPSILON_DECAY=0.9995)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829.80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35/50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Strong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policy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learning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931.1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84499"/>
                  </a:ext>
                </a:extLst>
              </a:tr>
              <a:tr h="214722">
                <a:tc>
                  <a:txBody>
                    <a:bodyPr/>
                    <a:lstStyle/>
                    <a:p>
                      <a:endParaRPr lang="es-E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3825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D7D22-7235-F0F0-DC36-124BB94F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77FCAD-3733-22E2-4DCE-89E7BECDD2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3020037"/>
            <a:ext cx="3882784" cy="1192672"/>
          </a:xfrm>
        </p:spPr>
        <p:txBody>
          <a:bodyPr>
            <a:normAutofit/>
          </a:bodyPr>
          <a:lstStyle/>
          <a:p>
            <a:pPr algn="l"/>
            <a:r>
              <a:rPr lang="es-ES" sz="3600" dirty="0" err="1"/>
              <a:t>Experimentation</a:t>
            </a:r>
            <a:r>
              <a:rPr lang="es-ES" sz="3600" dirty="0"/>
              <a:t> (</a:t>
            </a:r>
            <a:r>
              <a:rPr lang="es-ES" sz="3600" dirty="0" err="1"/>
              <a:t>domain</a:t>
            </a:r>
            <a:r>
              <a:rPr lang="es-ES" sz="3600" dirty="0"/>
              <a:t> </a:t>
            </a:r>
            <a:r>
              <a:rPr lang="es-ES" sz="3600" dirty="0" err="1"/>
              <a:t>randomize</a:t>
            </a:r>
            <a:r>
              <a:rPr lang="es-ES" sz="3600" dirty="0"/>
              <a:t>)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6FFF9664-7877-DF3C-AF17-CBB0AADF6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5818599"/>
              </p:ext>
            </p:extLst>
          </p:nvPr>
        </p:nvGraphicFramePr>
        <p:xfrm>
          <a:off x="4644376" y="180222"/>
          <a:ext cx="7214616" cy="6307055"/>
        </p:xfrm>
        <a:graphic>
          <a:graphicData uri="http://schemas.openxmlformats.org/drawingml/2006/table">
            <a:tbl>
              <a:tblPr>
                <a:solidFill>
                  <a:srgbClr val="F2F2F2">
                    <a:alpha val="45098"/>
                  </a:srgbClr>
                </a:solidFill>
              </a:tblPr>
              <a:tblGrid>
                <a:gridCol w="7214616">
                  <a:extLst>
                    <a:ext uri="{9D8B030D-6E8A-4147-A177-3AD203B41FA5}">
                      <a16:colId xmlns:a16="http://schemas.microsoft.com/office/drawing/2014/main" val="2773077775"/>
                    </a:ext>
                  </a:extLst>
                </a:gridCol>
              </a:tblGrid>
              <a:tr h="2996654"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2300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628.35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8/50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905.4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7300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n-U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(BATCH_SIZE=1024, TAU=0.01, EPSILON_DECAY=0.9995):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2nd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most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consistent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: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716.42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21/50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924.3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16042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(</a:t>
                      </a:r>
                      <a:r>
                        <a:rPr lang="en-U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BATCH_SIZE=1024, TAU=0.01, EPSILON_DECAY=0.9995)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marL="0" marR="0" lvl="0" indent="0" algn="l" defTabSz="914400" rtl="0" eaLnBrk="1" fontAlgn="t" latinLnBrk="0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740.28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24/50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928.3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Fine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tuned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2368-&gt;2210: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730.29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  <a:endParaRPr lang="es-ES" sz="1500" b="1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23/50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930.4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🧮 Fine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tuned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from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4600-&gt;4700:</a:t>
                      </a:r>
                    </a:p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810.74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avg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.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34/50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eps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scored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&gt; 850</a:t>
                      </a: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</a:t>
                      </a:r>
                      <a:r>
                        <a:rPr lang="es-ES" sz="1500" b="1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Peak</a:t>
                      </a:r>
                      <a:r>
                        <a:rPr lang="es-ES" sz="1500" b="1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 performance: </a:t>
                      </a:r>
                      <a:r>
                        <a:rPr lang="es-ES" sz="1500" b="0" i="0" cap="none" spc="0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932.1 </a:t>
                      </a:r>
                      <a:r>
                        <a:rPr lang="es-ES" sz="1500" b="0" i="0" cap="none" spc="0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</a:rPr>
                        <a:t>reward</a:t>
                      </a: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  <a:p>
                      <a:pPr fontAlgn="t">
                        <a:lnSpc>
                          <a:spcPts val="1500"/>
                        </a:lnSpc>
                        <a:buFont typeface="Arial" panose="020B0604020202020204" pitchFamily="34" charset="0"/>
                        <a:buChar char="•"/>
                      </a:pPr>
                      <a:endParaRPr lang="es-ES" sz="1500" b="0" i="0" cap="none" spc="0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084499"/>
                  </a:ext>
                </a:extLst>
              </a:tr>
              <a:tr h="214722">
                <a:tc>
                  <a:txBody>
                    <a:bodyPr/>
                    <a:lstStyle/>
                    <a:p>
                      <a:endParaRPr lang="es-ES" sz="15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7977" marR="117977" marT="117977" marB="58988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F2F2F2">
                        <a:alpha val="4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006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0289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F000-228F-C46E-86B8-24CCD6F46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0207F-FAC4-B053-5E84-FE011BDA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84877"/>
          </a:xfrm>
        </p:spPr>
        <p:txBody>
          <a:bodyPr/>
          <a:lstStyle/>
          <a:p>
            <a:r>
              <a:rPr lang="es-ES"/>
              <a:t>Conclusions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CE3A292-0A28-9BEE-EA5F-B398D28CF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984876"/>
            <a:ext cx="12192000" cy="5873123"/>
          </a:xfrm>
        </p:spPr>
        <p:txBody>
          <a:bodyPr/>
          <a:lstStyle/>
          <a:p>
            <a:r>
              <a:rPr lang="es-ES" dirty="0" err="1"/>
              <a:t>Hyperparemeters</a:t>
            </a:r>
            <a:r>
              <a:rPr lang="es-ES" dirty="0"/>
              <a:t> </a:t>
            </a:r>
            <a:r>
              <a:rPr lang="es-ES" dirty="0" err="1"/>
              <a:t>small</a:t>
            </a:r>
            <a:r>
              <a:rPr lang="es-ES" dirty="0"/>
              <a:t> </a:t>
            </a:r>
            <a:r>
              <a:rPr lang="es-ES" dirty="0" err="1"/>
              <a:t>variations</a:t>
            </a:r>
            <a:endParaRPr lang="es-ES" dirty="0"/>
          </a:p>
          <a:p>
            <a:r>
              <a:rPr lang="es-ES" dirty="0" err="1"/>
              <a:t>Early</a:t>
            </a:r>
            <a:r>
              <a:rPr lang="es-ES" dirty="0"/>
              <a:t> </a:t>
            </a:r>
            <a:r>
              <a:rPr lang="es-ES" dirty="0" err="1"/>
              <a:t>stopping</a:t>
            </a:r>
            <a:endParaRPr lang="es-ES" dirty="0"/>
          </a:p>
          <a:p>
            <a:r>
              <a:rPr lang="es-ES" dirty="0" err="1"/>
              <a:t>Domain</a:t>
            </a:r>
            <a:r>
              <a:rPr lang="es-ES" dirty="0"/>
              <a:t> </a:t>
            </a:r>
            <a:r>
              <a:rPr lang="es-ES" dirty="0" err="1"/>
              <a:t>randomize</a:t>
            </a:r>
            <a:r>
              <a:rPr lang="es-ES" dirty="0"/>
              <a:t> </a:t>
            </a:r>
            <a:r>
              <a:rPr lang="es-ES" dirty="0" err="1"/>
              <a:t>models</a:t>
            </a:r>
            <a:r>
              <a:rPr lang="es-ES" dirty="0"/>
              <a:t> </a:t>
            </a:r>
            <a:r>
              <a:rPr lang="es-ES" dirty="0" err="1"/>
              <a:t>hard</a:t>
            </a:r>
            <a:endParaRPr lang="es-ES" dirty="0"/>
          </a:p>
          <a:p>
            <a:r>
              <a:rPr lang="es-ES" dirty="0" err="1"/>
              <a:t>Higher</a:t>
            </a:r>
            <a:r>
              <a:rPr lang="es-ES" dirty="0"/>
              <a:t> </a:t>
            </a:r>
            <a:r>
              <a:rPr lang="es-ES" dirty="0" err="1"/>
              <a:t>batch</a:t>
            </a:r>
            <a:r>
              <a:rPr lang="es-ES" dirty="0"/>
              <a:t> </a:t>
            </a:r>
            <a:r>
              <a:rPr lang="es-ES" dirty="0" err="1"/>
              <a:t>size</a:t>
            </a:r>
            <a:r>
              <a:rPr lang="es-ES" dirty="0"/>
              <a:t> and TAU </a:t>
            </a:r>
            <a:r>
              <a:rPr lang="es-ES" dirty="0" err="1"/>
              <a:t>less</a:t>
            </a:r>
            <a:r>
              <a:rPr lang="es-ES" dirty="0"/>
              <a:t> </a:t>
            </a:r>
            <a:r>
              <a:rPr lang="es-ES" dirty="0" err="1"/>
              <a:t>consistency</a:t>
            </a:r>
            <a:endParaRPr lang="es-ES" dirty="0"/>
          </a:p>
          <a:p>
            <a:r>
              <a:rPr lang="es-ES" dirty="0" err="1"/>
              <a:t>Smaller</a:t>
            </a:r>
            <a:r>
              <a:rPr lang="es-ES" dirty="0"/>
              <a:t> </a:t>
            </a:r>
            <a:r>
              <a:rPr lang="es-ES" dirty="0" err="1"/>
              <a:t>epsilon</a:t>
            </a:r>
            <a:r>
              <a:rPr lang="es-ES" dirty="0"/>
              <a:t> </a:t>
            </a:r>
            <a:r>
              <a:rPr lang="es-ES" dirty="0" err="1"/>
              <a:t>decay</a:t>
            </a:r>
            <a:r>
              <a:rPr lang="es-ES" dirty="0"/>
              <a:t> </a:t>
            </a:r>
            <a:r>
              <a:rPr lang="es-ES" dirty="0" err="1"/>
              <a:t>may</a:t>
            </a:r>
            <a:r>
              <a:rPr lang="es-ES" dirty="0"/>
              <a:t> lead </a:t>
            </a:r>
            <a:r>
              <a:rPr lang="es-ES" dirty="0" err="1"/>
              <a:t>to</a:t>
            </a:r>
            <a:r>
              <a:rPr lang="es-ES" dirty="0"/>
              <a:t> local </a:t>
            </a:r>
            <a:r>
              <a:rPr lang="es-ES" dirty="0" err="1"/>
              <a:t>maximas</a:t>
            </a:r>
            <a:r>
              <a:rPr lang="es-ES" dirty="0"/>
              <a:t>, </a:t>
            </a:r>
            <a:r>
              <a:rPr lang="es-ES" dirty="0" err="1"/>
              <a:t>higher</a:t>
            </a:r>
            <a:r>
              <a:rPr lang="es-ES" dirty="0"/>
              <a:t> </a:t>
            </a:r>
            <a:r>
              <a:rPr lang="es-ES" dirty="0" err="1"/>
              <a:t>one</a:t>
            </a:r>
            <a:r>
              <a:rPr lang="es-ES" dirty="0"/>
              <a:t> </a:t>
            </a:r>
            <a:r>
              <a:rPr lang="es-ES" dirty="0" err="1"/>
              <a:t>enables</a:t>
            </a:r>
            <a:r>
              <a:rPr lang="es-ES" dirty="0"/>
              <a:t>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rewards</a:t>
            </a:r>
            <a:r>
              <a:rPr lang="es-ES" dirty="0"/>
              <a:t> </a:t>
            </a: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inestability</a:t>
            </a:r>
            <a:r>
              <a:rPr lang="es-ES" dirty="0"/>
              <a:t> -&gt; Balance </a:t>
            </a:r>
            <a:r>
              <a:rPr lang="es-ES" dirty="0" err="1"/>
              <a:t>exploration</a:t>
            </a:r>
            <a:r>
              <a:rPr lang="es-ES" dirty="0"/>
              <a:t> and </a:t>
            </a:r>
            <a:r>
              <a:rPr lang="es-ES" dirty="0" err="1"/>
              <a:t>exploitation</a:t>
            </a:r>
            <a:r>
              <a:rPr lang="es-ES" dirty="0"/>
              <a:t>.</a:t>
            </a:r>
          </a:p>
          <a:p>
            <a:r>
              <a:rPr lang="es-ES" dirty="0" err="1"/>
              <a:t>Fine_tuning</a:t>
            </a:r>
            <a:r>
              <a:rPr lang="es-ES" dirty="0"/>
              <a:t> </a:t>
            </a:r>
            <a:r>
              <a:rPr lang="es-ES" dirty="0" err="1"/>
              <a:t>effectiveness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8427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3D0D61-6C4E-D98B-9491-42BDDF0F74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 err="1"/>
              <a:t>End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845269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1561</Words>
  <Application>Microsoft Office PowerPoint</Application>
  <PresentationFormat>Panorámica</PresentationFormat>
  <Paragraphs>202</Paragraphs>
  <Slides>14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Segoe UI</vt:lpstr>
      <vt:lpstr>Tema de Office</vt:lpstr>
      <vt:lpstr>(D)DQN in Gymnasium 2D Environments</vt:lpstr>
      <vt:lpstr>DQN</vt:lpstr>
      <vt:lpstr>DDQN (PER)</vt:lpstr>
      <vt:lpstr>Lunar Lander Introduction</vt:lpstr>
      <vt:lpstr>General Hyperparameters (Training Conditions)</vt:lpstr>
      <vt:lpstr>Experimentation</vt:lpstr>
      <vt:lpstr>Experimentation (2)</vt:lpstr>
      <vt:lpstr>Conclusions</vt:lpstr>
      <vt:lpstr>Car Racing Introduction</vt:lpstr>
      <vt:lpstr>General Hyperparameters (Training Conditions)</vt:lpstr>
      <vt:lpstr>Experimentation</vt:lpstr>
      <vt:lpstr>Experimentation (domain randomize)</vt:lpstr>
      <vt:lpstr>Conclusions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IGNACIO GUTIÉRREZ SERRERA</dc:creator>
  <cp:lastModifiedBy>IGNACIO GUTIÉRREZ SERRERA</cp:lastModifiedBy>
  <cp:revision>7</cp:revision>
  <dcterms:created xsi:type="dcterms:W3CDTF">2025-12-18T23:36:37Z</dcterms:created>
  <dcterms:modified xsi:type="dcterms:W3CDTF">2025-12-19T10:01:35Z</dcterms:modified>
</cp:coreProperties>
</file>